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337" r:id="rId5"/>
    <p:sldId id="289" r:id="rId6"/>
    <p:sldId id="340" r:id="rId7"/>
    <p:sldId id="329" r:id="rId8"/>
    <p:sldId id="336" r:id="rId9"/>
    <p:sldId id="341" r:id="rId10"/>
    <p:sldId id="34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18/11/2025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a:t>
            </a:r>
            <a:r>
              <a:rPr lang="en-GB"/>
              <a:t>make the most of this opportunity to help you pass coursework 2. </a:t>
            </a:r>
            <a:endParaRPr lang="en-GB" dirty="0"/>
          </a:p>
          <a:p>
            <a:endParaRPr lang="en-GB"/>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a:t>
            </a:r>
            <a:r>
              <a:rPr lang="en-GB">
                <a:solidFill>
                  <a:srgbClr val="FF0000"/>
                </a:solidFill>
              </a:rPr>
              <a:t>receive confirmation email about your allocation?</a:t>
            </a:r>
            <a:r>
              <a:rPr lang="en-GB" dirty="0">
                <a:solidFill>
                  <a:srgbClr val="FF0000"/>
                </a:solidFill>
              </a:rPr>
              <a:t> Your group number must be assigned to the dataset you are referencing here.</a:t>
            </a:r>
            <a:endParaRPr lang="en-GB" dirty="0">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a:t>
            </a:r>
            <a:r>
              <a:rPr lang="en-GB" dirty="0"/>
              <a:t>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a:t>
            </a:r>
            <a:r>
              <a:rPr lang="en-GB"/>
              <a:t>presenting will miss the opportunity to check a critical part of coursework 2.   Practice presenting on Teams </a:t>
            </a:r>
            <a:r>
              <a:rPr lang="en-GB" dirty="0"/>
              <a:t>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A100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9965844" cy="2649857"/>
          </a:xfrm>
        </p:spPr>
        <p:txBody>
          <a:bodyPr>
            <a:normAutofit fontScale="90000"/>
          </a:bodyPr>
          <a:lstStyle/>
          <a:p>
            <a:pPr>
              <a:lnSpc>
                <a:spcPts val="2880"/>
              </a:lnSpc>
              <a:spcBef>
                <a:spcPts val="0"/>
              </a:spcBef>
              <a:spcAft>
                <a:spcPts val="992"/>
              </a:spcAft>
            </a:pPr>
            <a:r>
              <a:rPr lang="en-GB" sz="3600" dirty="0">
                <a:solidFill>
                  <a:srgbClr val="FF0000"/>
                </a:solidFill>
                <a:cs typeface="Arial"/>
              </a:rPr>
              <a:t>Include summary information of your dataset, to include </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dirty="0">
                <a:solidFill>
                  <a:srgbClr val="FF0000"/>
                </a:solidFill>
                <a:cs typeface="Arial"/>
              </a:rPr>
              <a:t>Crashes in Urban areas of Jamaica/ North of Jamaica.</a:t>
            </a:r>
            <a:endParaRPr lang="en-US" sz="3600" b="0" dirty="0">
              <a:solidFill>
                <a:srgbClr val="FF0000"/>
              </a:solidFill>
              <a:cs typeface="Arial"/>
            </a:endParaRPr>
          </a:p>
          <a:p>
            <a:pPr marL="742950" indent="-742950">
              <a:lnSpc>
                <a:spcPts val="2880"/>
              </a:lnSpc>
              <a:spcBef>
                <a:spcPts val="0"/>
              </a:spcBef>
              <a:spcAft>
                <a:spcPts val="992"/>
              </a:spcAft>
              <a:buAutoNum type="arabicPeriod"/>
            </a:pPr>
            <a:br>
              <a:rPr lang="en-US" sz="3600" b="0" dirty="0">
                <a:solidFill>
                  <a:srgbClr val="FF0000"/>
                </a:solidFill>
                <a:cs typeface="Arial"/>
              </a:rPr>
            </a:br>
            <a:br>
              <a:rPr lang="en-US" sz="3600" b="0" dirty="0">
                <a:solidFill>
                  <a:srgbClr val="FF0000"/>
                </a:solidFill>
                <a:cs typeface="Arial"/>
              </a:rPr>
            </a:b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dirty="0">
                <a:solidFill>
                  <a:srgbClr val="FF0000"/>
                </a:solidFill>
                <a:cs typeface="Arial"/>
              </a:rPr>
              <a:t>Dataset has 9 rows</a:t>
            </a:r>
            <a:br>
              <a:rPr lang="en-GB" sz="3600" dirty="0">
                <a:solidFill>
                  <a:srgbClr val="FF0000"/>
                </a:solidFill>
                <a:cs typeface="Arial"/>
              </a:rPr>
            </a:br>
            <a:endParaRPr lang="en-GB" sz="3600" dirty="0">
              <a:solidFill>
                <a:srgbClr val="FF0000"/>
              </a:solidFill>
              <a:cs typeface="Arial"/>
            </a:endParaRPr>
          </a:p>
          <a:p>
            <a:endParaRPr lang="en-US" dirty="0">
              <a:solidFill>
                <a:srgbClr val="FF0000"/>
              </a:solidFill>
              <a:cs typeface="Arial"/>
            </a:endParaRPr>
          </a:p>
        </p:txBody>
      </p:sp>
      <p:pic>
        <p:nvPicPr>
          <p:cNvPr id="6" name="Picture 5">
            <a:extLst>
              <a:ext uri="{FF2B5EF4-FFF2-40B4-BE49-F238E27FC236}">
                <a16:creationId xmlns:a16="http://schemas.microsoft.com/office/drawing/2014/main" id="{D895BADC-8487-95D8-64BE-2ED3B85A7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6" y="2997524"/>
            <a:ext cx="10930728" cy="862952"/>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DS046 crashes-and-road-accident-fatalities-All-2017-03-20_0744/Crashes By Place of Residence.csv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875072" y="2136354"/>
            <a:ext cx="11065162" cy="2261132"/>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(one sentence):</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North of Jamaica</a:t>
            </a:r>
            <a:br>
              <a:rPr lang="en-US" sz="2400" b="0" dirty="0">
                <a:latin typeface="Calibri"/>
                <a:cs typeface="Calibri"/>
              </a:rPr>
            </a:br>
            <a:r>
              <a:rPr lang="en-US" sz="2400" b="0" dirty="0">
                <a:solidFill>
                  <a:srgbClr val="FF0000"/>
                </a:solidFill>
                <a:latin typeface="Calibri"/>
                <a:cs typeface="Calibri"/>
              </a:rPr>
              <a:t> </a:t>
            </a:r>
            <a:r>
              <a:rPr lang="en-US" sz="2400" b="0" dirty="0">
                <a:latin typeface="Calibri"/>
                <a:cs typeface="Calibri"/>
              </a:rPr>
              <a:t>This  Independent variable datatype is (select one): </a:t>
            </a:r>
            <a:r>
              <a:rPr lang="en-US" sz="2400" b="0" dirty="0">
                <a:solidFill>
                  <a:srgbClr val="FF0000"/>
                </a:solidFill>
                <a:latin typeface="Calibri"/>
                <a:cs typeface="Calibri"/>
              </a:rPr>
              <a:t>Nominal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crashes in the urban cities of Jamaica</a:t>
            </a:r>
            <a:br>
              <a:rPr lang="en-US" sz="2400" b="0" dirty="0">
                <a:solidFill>
                  <a:srgbClr val="FF0000"/>
                </a:solidFill>
                <a:latin typeface="Calibri"/>
                <a:cs typeface="Calibri"/>
              </a:rPr>
            </a:br>
            <a:r>
              <a:rPr lang="en-US" sz="2400" b="0" dirty="0">
                <a:solidFill>
                  <a:srgbClr val="FF0000"/>
                </a:solidFill>
                <a:latin typeface="Calibri"/>
                <a:cs typeface="Calibri"/>
              </a:rPr>
              <a:t> </a:t>
            </a:r>
            <a:r>
              <a:rPr lang="en-US" sz="2400" b="0" dirty="0">
                <a:latin typeface="Calibri"/>
                <a:cs typeface="Calibri"/>
              </a:rPr>
              <a:t>This Dependent variable datatype is  (select one): </a:t>
            </a:r>
            <a:r>
              <a:rPr lang="en-US" sz="2400" b="0" dirty="0">
                <a:solidFill>
                  <a:srgbClr val="FF0000"/>
                </a:solidFill>
                <a:latin typeface="Calibri"/>
                <a:cs typeface="Calibri"/>
              </a:rPr>
              <a:t> Ordinal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1023668" y="1923411"/>
            <a:ext cx="10640594" cy="2678085"/>
          </a:xfrm>
        </p:spPr>
        <p:txBody>
          <a:bodyPr>
            <a:noAutofit/>
          </a:bodyPr>
          <a:lstStyle/>
          <a:p>
            <a:pPr>
              <a:lnSpc>
                <a:spcPct val="100000"/>
              </a:lnSpc>
            </a:pP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effectLst/>
                <a:latin typeface="Calibri"/>
                <a:ea typeface="Calibri" panose="020F0502020204030204" pitchFamily="34" charset="0"/>
                <a:cs typeface="Times New Roman"/>
              </a:rPr>
              <a:t>Template</a:t>
            </a:r>
            <a:r>
              <a:rPr lang="en-IE" sz="2400" baseline="30000" dirty="0">
                <a:effectLst/>
                <a:latin typeface="Calibri"/>
                <a:ea typeface="Calibri" panose="020F0502020204030204" pitchFamily="34" charset="0"/>
                <a:cs typeface="Times New Roman"/>
              </a:rPr>
              <a:t>2</a:t>
            </a:r>
            <a:r>
              <a:rPr lang="en-IE" sz="2400" dirty="0">
                <a:effectLst/>
                <a:latin typeface="Calibri"/>
                <a:ea typeface="Calibri" panose="020F0502020204030204" pitchFamily="34" charset="0"/>
                <a:cs typeface="Times New Roman"/>
              </a:rPr>
              <a:t> :  </a:t>
            </a:r>
            <a:r>
              <a:rPr lang="en-IE" sz="2400" b="0" dirty="0">
                <a:effectLst/>
                <a:latin typeface="Calibri"/>
                <a:ea typeface="Calibri" panose="020F0502020204030204" pitchFamily="34" charset="0"/>
                <a:cs typeface="Times New Roman"/>
              </a:rPr>
              <a:t>Interval/Ordinal vs Nominal. data “Is there a difference in the median of </a:t>
            </a:r>
            <a:r>
              <a:rPr lang="en-IE" sz="2400" b="0" dirty="0">
                <a:solidFill>
                  <a:srgbClr val="0070C0"/>
                </a:solidFill>
                <a:effectLst/>
                <a:latin typeface="Calibri"/>
                <a:ea typeface="Calibri" panose="020F0502020204030204" pitchFamily="34" charset="0"/>
                <a:cs typeface="Times New Roman"/>
              </a:rPr>
              <a:t>crashes </a:t>
            </a:r>
            <a:r>
              <a:rPr lang="en-IE" sz="2400" b="0" dirty="0">
                <a:solidFill>
                  <a:srgbClr val="0070C0"/>
                </a:solidFill>
                <a:latin typeface="Calibri"/>
                <a:ea typeface="Calibri" panose="020F0502020204030204" pitchFamily="34" charset="0"/>
                <a:cs typeface="Times New Roman"/>
              </a:rPr>
              <a:t>between towns /cities of Jamaica</a:t>
            </a:r>
            <a:r>
              <a:rPr lang="en-IE" sz="2400" b="0" dirty="0">
                <a:solidFill>
                  <a:srgbClr val="0070C0"/>
                </a:solidFill>
                <a:effectLst/>
                <a:latin typeface="Calibri"/>
                <a:ea typeface="Calibri" panose="020F0502020204030204" pitchFamily="34" charset="0"/>
                <a:cs typeface="Times New Roman"/>
              </a:rPr>
              <a:t> in North and South regions.</a:t>
            </a:r>
            <a:br>
              <a:rPr lang="en-GB" sz="2400" b="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a:t>
            </a:r>
            <a:r>
              <a:rPr lang="en-GB" sz="2400" dirty="0">
                <a:latin typeface="Calibri"/>
                <a:cs typeface="Calibri"/>
              </a:rPr>
              <a:t>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a:latin typeface="Arial"/>
                <a:cs typeface="Arial"/>
              </a:rPr>
              <a:t>Null hypothesis (H</a:t>
            </a:r>
            <a:r>
              <a:rPr lang="en-GB" sz="2000" b="0" baseline="-25000">
                <a:latin typeface="Arial"/>
                <a:cs typeface="Arial"/>
              </a:rPr>
              <a:t>0</a:t>
            </a:r>
            <a:r>
              <a:rPr lang="en-GB" sz="2000" b="0">
                <a:latin typeface="Arial"/>
                <a:cs typeface="Arial"/>
              </a:rPr>
              <a:t>): There is </a:t>
            </a:r>
            <a:r>
              <a:rPr lang="en-GB" sz="2000">
                <a:latin typeface="Arial"/>
                <a:cs typeface="Arial"/>
              </a:rPr>
              <a:t>no </a:t>
            </a:r>
            <a:r>
              <a:rPr lang="en-GB" sz="2000" b="0">
                <a:latin typeface="Arial"/>
                <a:cs typeface="Arial"/>
              </a:rPr>
              <a:t>effect on the population – so you write one of the following:  </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mean/median of the [dependent variable] between/among [subsets of the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proportions(s)of [subset(s) of dependent variable] between/among [subsets of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correlation between [dependent variable] and [independent variable].</a:t>
            </a:r>
          </a:p>
          <a:p>
            <a:pPr>
              <a:lnSpc>
                <a:spcPct val="100000"/>
              </a:lnSpc>
            </a:pPr>
            <a:r>
              <a:rPr lang="en-GB" sz="2000" b="0">
                <a:latin typeface="Arial"/>
                <a:cs typeface="Arial"/>
              </a:rPr>
              <a:t>2. Alternative hypothesis (H</a:t>
            </a:r>
            <a:r>
              <a:rPr lang="en-GB" sz="2000" b="0" baseline="-25000">
                <a:latin typeface="Arial"/>
                <a:cs typeface="Arial"/>
              </a:rPr>
              <a:t>1</a:t>
            </a:r>
            <a:r>
              <a:rPr lang="en-GB" sz="2000" b="0">
                <a:latin typeface="Arial"/>
                <a:cs typeface="Arial"/>
              </a:rPr>
              <a:t>):  There appears to be an effect on the population – so you copy what you wrote for the Null hypothesis but remove the ‘no’ and replace with ‘</a:t>
            </a:r>
            <a:r>
              <a:rPr lang="en-GB" sz="2000">
                <a:latin typeface="Arial"/>
                <a:cs typeface="Arial"/>
              </a:rPr>
              <a:t>a’  </a:t>
            </a:r>
            <a:r>
              <a:rPr lang="en-GB" sz="2000" b="0">
                <a:latin typeface="Arial"/>
                <a:cs typeface="Arial"/>
              </a:rPr>
              <a:t>For example:</a:t>
            </a:r>
          </a:p>
          <a:p>
            <a:pPr>
              <a:lnSpc>
                <a:spcPct val="100000"/>
              </a:lnSpc>
            </a:pPr>
            <a:r>
              <a:rPr lang="en-GB" sz="2000" b="0">
                <a:solidFill>
                  <a:srgbClr val="FF0000"/>
                </a:solidFill>
                <a:latin typeface="Arial"/>
                <a:cs typeface="Arial"/>
              </a:rPr>
              <a:t>Alt hypothesis (H</a:t>
            </a:r>
            <a:r>
              <a:rPr lang="en-GB" sz="2000" b="0" baseline="-25000">
                <a:solidFill>
                  <a:srgbClr val="FF0000"/>
                </a:solidFill>
                <a:latin typeface="Arial"/>
                <a:cs typeface="Arial"/>
              </a:rPr>
              <a:t>1</a:t>
            </a:r>
            <a:r>
              <a:rPr lang="en-GB" sz="2000" b="0">
                <a:solidFill>
                  <a:srgbClr val="FF0000"/>
                </a:solidFill>
                <a:latin typeface="Arial"/>
                <a:cs typeface="Arial"/>
              </a:rPr>
              <a:t>): There is </a:t>
            </a:r>
            <a:r>
              <a:rPr lang="en-GB" sz="2000">
                <a:solidFill>
                  <a:srgbClr val="FF0000"/>
                </a:solidFill>
                <a:latin typeface="Arial"/>
                <a:cs typeface="Arial"/>
              </a:rPr>
              <a:t>a</a:t>
            </a:r>
            <a:r>
              <a:rPr lang="en-GB" sz="2000" b="0">
                <a:solidFill>
                  <a:srgbClr val="FF0000"/>
                </a:solidFill>
                <a:latin typeface="Arial"/>
                <a:cs typeface="Arial"/>
              </a:rPr>
              <a:t> correlation between [dependent variable] and [independent variable].</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DC9D-8B65-3EAF-8C6C-B4C41C152CC9}"/>
              </a:ext>
            </a:extLst>
          </p:cNvPr>
          <p:cNvSpPr>
            <a:spLocks noGrp="1"/>
          </p:cNvSpPr>
          <p:nvPr>
            <p:ph type="title"/>
          </p:nvPr>
        </p:nvSpPr>
        <p:spPr/>
        <p:txBody>
          <a:bodyPr/>
          <a:lstStyle/>
          <a:p>
            <a:r>
              <a:rPr lang="en-GB" dirty="0"/>
              <a:t>Our Dataset</a:t>
            </a:r>
          </a:p>
        </p:txBody>
      </p:sp>
      <p:pic>
        <p:nvPicPr>
          <p:cNvPr id="6" name="Content Placeholder 5" descr="A screenshot of a computer&#10;&#10;AI-generated content may be incorrect.">
            <a:extLst>
              <a:ext uri="{FF2B5EF4-FFF2-40B4-BE49-F238E27FC236}">
                <a16:creationId xmlns:a16="http://schemas.microsoft.com/office/drawing/2014/main" id="{F5001F9C-01AD-86B5-57A7-0526FBEE45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963" y="2817250"/>
            <a:ext cx="10252075" cy="2025187"/>
          </a:xfrm>
        </p:spPr>
      </p:pic>
      <p:sp>
        <p:nvSpPr>
          <p:cNvPr id="4" name="Slide Number Placeholder 3">
            <a:extLst>
              <a:ext uri="{FF2B5EF4-FFF2-40B4-BE49-F238E27FC236}">
                <a16:creationId xmlns:a16="http://schemas.microsoft.com/office/drawing/2014/main" id="{66E4ED9B-7E5B-D646-8C5C-09BCDCA70548}"/>
              </a:ext>
            </a:extLst>
          </p:cNvPr>
          <p:cNvSpPr>
            <a:spLocks noGrp="1"/>
          </p:cNvSpPr>
          <p:nvPr>
            <p:ph type="sldNum" sz="quarter" idx="12"/>
          </p:nvPr>
        </p:nvSpPr>
        <p:spPr/>
        <p:txBody>
          <a:bodyPr/>
          <a:lstStyle/>
          <a:p>
            <a:fld id="{E4D355CA-84B7-41B1-B164-8BB439CC7C6B}" type="slidenum">
              <a:rPr lang="en-GB" smtClean="0"/>
              <a:pPr/>
              <a:t>7</a:t>
            </a:fld>
            <a:endParaRPr lang="en-GB"/>
          </a:p>
        </p:txBody>
      </p:sp>
    </p:spTree>
    <p:extLst>
      <p:ext uri="{BB962C8B-B14F-4D97-AF65-F5344CB8AC3E}">
        <p14:creationId xmlns:p14="http://schemas.microsoft.com/office/powerpoint/2010/main" val="4186465211"/>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38</TotalTime>
  <Words>1114</Words>
  <Application>Microsoft Office PowerPoint</Application>
  <PresentationFormat>Widescreen</PresentationFormat>
  <Paragraphs>49</Paragraphs>
  <Slides>7</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Herts Theme</vt:lpstr>
      <vt:lpstr>PowerPoint Presentation</vt:lpstr>
      <vt:lpstr>Research Question –  Tutorial Presentation for Feedback Date:  </vt:lpstr>
      <vt:lpstr>Include summary information of your dataset, to include  Crashes in Urban areas of Jamaica/ North of Jamaica.    Dataset has 9 rows  </vt:lpstr>
      <vt:lpstr>This dataset is interesting to us because (one sentence):  From the column headings in your dataset choose ONE independent * and ONE dependent variable .  Our  Independent variable is:  North of Jamaica  This  Independent variable datatype is (select one): Nominal data. Our Dependent variable is: crashes in the urban cities of Jamaica  This Dependent variable datatype is  (select one):  Ordinal  data</vt:lpstr>
      <vt:lpstr> Template2 :  Interval/Ordinal vs Nominal. data “Is there a difference in the median of crashes between towns /cities of Jamaica in North and South regions.   </vt:lpstr>
      <vt:lpstr>PowerPoint Presentation</vt:lpstr>
      <vt:lpstr>Our Dataset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Farah Fazli [Student-PECS]</cp:lastModifiedBy>
  <cp:revision>120</cp:revision>
  <dcterms:created xsi:type="dcterms:W3CDTF">2019-10-01T08:37:56Z</dcterms:created>
  <dcterms:modified xsi:type="dcterms:W3CDTF">2025-11-18T16:50:05Z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